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6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1300" b="1" i="0">
                <a:solidFill>
                  <a:srgbClr val="9EC5F4"/>
                </a:solidFill>
                <a:latin typeface="Arial"/>
              </a:rPr>
              <a:t>QUANTATHON V3 · SRNL &amp; CLEMSON · EARTHQUAKE-Q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515600" cy="1463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Arial"/>
              </a:rPr>
              <a:t>An honest aftershock-risk forecast for the central &amp; eastern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46120"/>
            <a:ext cx="10515600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1800" b="0" i="0">
                <a:solidFill>
                  <a:srgbClr val="DDE8F6"/>
                </a:solidFill>
                <a:latin typeface="Arial"/>
              </a:rPr>
              <a:t>P(≥1 M≥2.0 earthquake within 100 km in each 30-day window) for 1,551 cells × 15 windows = 23,265 calibrated probabilities, issued 2025-01-01.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265176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3000" b="1" i="0">
                <a:solidFill>
                  <a:srgbClr val="FFFFFF"/>
                </a:solidFill>
                <a:latin typeface="Arial"/>
              </a:rPr>
              <a:t>+0.160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38928"/>
            <a:ext cx="256032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1200" b="0" i="0">
                <a:solidFill>
                  <a:srgbClr val="B7D3F6"/>
                </a:solidFill>
                <a:latin typeface="Arial"/>
              </a:rPr>
              <a:t>bits on the sealed judge window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39" y="4572000"/>
            <a:ext cx="265176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3000" b="1" i="0">
                <a:solidFill>
                  <a:srgbClr val="FFFFFF"/>
                </a:solidFill>
                <a:latin typeface="Arial"/>
              </a:rPr>
              <a:t>+0.146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39" y="5138928"/>
            <a:ext cx="256032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1200" b="0" i="0">
                <a:solidFill>
                  <a:srgbClr val="B7D3F6"/>
                </a:solidFill>
                <a:latin typeface="Arial"/>
              </a:rPr>
              <a:t>bits on the 2021–2023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59" y="4572000"/>
            <a:ext cx="265176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3000" b="1" i="0">
                <a:solidFill>
                  <a:srgbClr val="FFFFFF"/>
                </a:solidFill>
                <a:latin typeface="Arial"/>
              </a:rPr>
              <a:t>0.0066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59" y="5138928"/>
            <a:ext cx="256032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1200" b="0" i="0">
                <a:solidFill>
                  <a:srgbClr val="B7D3F6"/>
                </a:solidFill>
                <a:latin typeface="Arial"/>
              </a:rPr>
              <a:t>calibration error on judge (target &lt; 0.02)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0" y="4572000"/>
            <a:ext cx="265176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3000" b="1" i="0">
                <a:solidFill>
                  <a:srgbClr val="FFFFFF"/>
                </a:solidFill>
                <a:latin typeface="Arial"/>
              </a:rPr>
              <a:t>No lift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5138928"/>
            <a:ext cx="256032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1200" b="0" i="0">
                <a:solidFill>
                  <a:srgbClr val="B7D3F6"/>
                </a:solidFill>
                <a:latin typeface="Arial"/>
              </a:rPr>
              <a:t>from quantum features (paired 95% CI)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1200" b="0" i="0">
                <a:solidFill>
                  <a:srgbClr val="9EC5F4"/>
                </a:solidFill>
                <a:latin typeface="Arial"/>
              </a:rPr>
              <a:t>Team Schrödinger's Cats · 27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1100" b="1" i="0">
                <a:solidFill>
                  <a:srgbClr val="7C8388"/>
                </a:solidFill>
                <a:latin typeface="Arial"/>
              </a:rPr>
              <a:t>SUMMARY FOR MENTORS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24712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2800" b="1" i="0">
                <a:solidFill>
                  <a:srgbClr val="15181B"/>
                </a:solidFill>
                <a:latin typeface="Arial"/>
              </a:rPr>
              <a:t>Where we stand: results you can act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900" b="0" i="0">
                <a:solidFill>
                  <a:srgbClr val="7C8388"/>
                </a:solidFill>
                <a:latin typeface="Arial"/>
              </a:rPr>
              <a:t>Earthquake-Q · Team Schrödinger's Cats · QuantathonV3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7C8388"/>
                </a:solidFill>
                <a:latin typeface="Arial"/>
              </a:rPr>
              <a:t>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1115568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291840"/>
                <a:gridCol w="4846320"/>
              </a:tblGrid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Question</a:t>
                      </a:r>
                    </a:p>
                  </a:txBody>
                  <a:tcPr marL="73152" marR="73152" marT="27432" marB="27432"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Answer</a:t>
                      </a:r>
                    </a:p>
                  </a:txBody>
                  <a:tcPr marL="73152" marR="73152" marT="27432" marB="27432"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Evidence</a:t>
                      </a:r>
                    </a:p>
                  </a:txBody>
                  <a:tcPr marL="73152" marR="73152" marT="27432" marB="27432">
                    <a:solidFill>
                      <a:srgbClr val="0D366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181B"/>
                          </a:solidFill>
                          <a:latin typeface="Arial"/>
                        </a:rPr>
                        <a:t>Is the forecast skilful?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181B"/>
                          </a:solidFill>
                          <a:latin typeface="Arial"/>
                        </a:rPr>
                        <a:t>Yes: +0.160 bits on judge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181B"/>
                          </a:solidFill>
                          <a:latin typeface="Arial"/>
                        </a:rPr>
                        <a:t>Test +0.146; AUC 0.913 judge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181B"/>
                          </a:solidFill>
                          <a:latin typeface="Arial"/>
                        </a:rPr>
                        <a:t>Are the probabilities honest?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181B"/>
                          </a:solidFill>
                          <a:latin typeface="Arial"/>
                        </a:rPr>
                        <a:t>Yes: ECE 0.0066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181B"/>
                          </a:solidFill>
                          <a:latin typeface="Arial"/>
                        </a:rPr>
                        <a:t>Target &lt; 0.02; reliability curve on diagonal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181B"/>
                          </a:solidFill>
                          <a:latin typeface="Arial"/>
                        </a:rPr>
                        <a:t>Did we leak the future?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181B"/>
                          </a:solidFill>
                          <a:latin typeface="Arial"/>
                        </a:rPr>
                        <a:t>No sign of it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181B"/>
                          </a:solidFill>
                          <a:latin typeface="Arial"/>
                        </a:rPr>
                        <a:t>Judge score ≥ test score (Deck's tell-tale check)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181B"/>
                          </a:solidFill>
                          <a:latin typeface="Arial"/>
                        </a:rPr>
                        <a:t>Does it beat physics (ETAS)?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181B"/>
                          </a:solidFill>
                          <a:latin typeface="Arial"/>
                        </a:rPr>
                        <a:t>Tie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181B"/>
                          </a:solidFill>
                          <a:latin typeface="Arial"/>
                        </a:rPr>
                        <a:t>ETAS approx. 0.1453 vs 0.1458; paired CI spans 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181B"/>
                          </a:solidFill>
                          <a:latin typeface="Arial"/>
                        </a:rPr>
                        <a:t>Does it beat location alone?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181B"/>
                          </a:solidFill>
                          <a:latin typeface="Arial"/>
                        </a:rPr>
                        <a:t>Yes: +0.010 bits (judge)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181B"/>
                          </a:solidFill>
                          <a:latin typeface="Arial"/>
                        </a:rPr>
                        <a:t>Location-only 0.150 judge, 0.141 test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181B"/>
                          </a:solidFill>
                          <a:latin typeface="Arial"/>
                        </a:rPr>
                        <a:t>Do external drivers help?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181B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181B"/>
                          </a:solidFill>
                          <a:latin typeface="Arial"/>
                        </a:rPr>
                        <a:t>Geomagnetic, solar, tidal, GPS: 0 or negative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181B"/>
                          </a:solidFill>
                          <a:latin typeface="Arial"/>
                        </a:rPr>
                        <a:t>Does quantum help?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181B"/>
                          </a:solidFill>
                          <a:latin typeface="Arial"/>
                        </a:rPr>
                        <a:t>No: slightly worse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181B"/>
                          </a:solidFill>
                          <a:latin typeface="Arial"/>
                        </a:rPr>
                        <a:t>ΔIG -0.0009 bits, 95% CI [-0.0015, -0.0004]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181B"/>
                          </a:solidFill>
                          <a:latin typeface="Arial"/>
                        </a:rPr>
                        <a:t>Is it ready to submit?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181B"/>
                          </a:solidFill>
                          <a:latin typeface="Arial"/>
                        </a:rPr>
                        <a:t>Yes, corrected file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181B"/>
                          </a:solidFill>
                          <a:latin typeface="Arial"/>
                        </a:rPr>
                        <a:t>Row-alignment bug found and fixed (bad file: −0.37 bits)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1100" b="1" i="0">
                <a:solidFill>
                  <a:srgbClr val="7C8388"/>
                </a:solidFill>
                <a:latin typeface="Arial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24712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2800" b="1" i="0">
                <a:solidFill>
                  <a:srgbClr val="15181B"/>
                </a:solidFill>
                <a:latin typeface="Arial"/>
              </a:rPr>
              <a:t>The task and how it is scored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900" b="0" i="0">
                <a:solidFill>
                  <a:srgbClr val="7C8388"/>
                </a:solidFill>
                <a:latin typeface="Arial"/>
              </a:rPr>
              <a:t>Earthquake-Q · Team Schrödinger's Cats · QuantathonV3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7C8388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500">
                <a:solidFill>
                  <a:srgbClr val="2A78D6"/>
                </a:solidFill>
                <a:latin typeface="Arial"/>
              </a:rPr>
              <a:t>▪  </a:t>
            </a:r>
            <a:r>
              <a:rPr sz="1500" b="1">
                <a:solidFill>
                  <a:srgbClr val="15181B"/>
                </a:solidFill>
                <a:latin typeface="Arial"/>
              </a:rPr>
              <a:t>Target: </a:t>
            </a:r>
            <a:r>
              <a:rPr sz="1500" b="0">
                <a:solidFill>
                  <a:srgbClr val="15181B"/>
                </a:solidFill>
                <a:latin typeface="Arial"/>
              </a:rPr>
              <a:t>probability of ≥1 M≥2.0 earthquake within 100 km of a 0.5° cell in a 30-day window.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500">
                <a:solidFill>
                  <a:srgbClr val="2A78D6"/>
                </a:solidFill>
                <a:latin typeface="Arial"/>
              </a:rPr>
              <a:t>▪  </a:t>
            </a:r>
            <a:r>
              <a:rPr sz="1500" b="1">
                <a:solidFill>
                  <a:srgbClr val="15181B"/>
                </a:solidFill>
                <a:latin typeface="Arial"/>
              </a:rPr>
              <a:t>Grid: </a:t>
            </a:r>
            <a:r>
              <a:rPr sz="1500" b="0">
                <a:solidFill>
                  <a:srgbClr val="15181B"/>
                </a:solidFill>
                <a:latin typeface="Arial"/>
              </a:rPr>
              <a:t>1,551 cells over 25–50°N, 65–90°W × 15 windows from 2025-01-01 = 23,265 forecasts.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500">
                <a:solidFill>
                  <a:srgbClr val="2A78D6"/>
                </a:solidFill>
                <a:latin typeface="Arial"/>
              </a:rPr>
              <a:t>▪  </a:t>
            </a:r>
            <a:r>
              <a:rPr sz="1500" b="1">
                <a:solidFill>
                  <a:srgbClr val="15181B"/>
                </a:solidFill>
                <a:latin typeface="Arial"/>
              </a:rPr>
              <a:t>Rare target: </a:t>
            </a:r>
            <a:r>
              <a:rPr sz="1500" b="0">
                <a:solidFill>
                  <a:srgbClr val="15181B"/>
                </a:solidFill>
                <a:latin typeface="Arial"/>
              </a:rPr>
              <a:t>7.5% of test cell-windows are positive, so accuracy is meaningless (always 'no' ≈ 92%).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500">
                <a:solidFill>
                  <a:srgbClr val="2A78D6"/>
                </a:solidFill>
                <a:latin typeface="Arial"/>
              </a:rPr>
              <a:t>▪  </a:t>
            </a:r>
            <a:r>
              <a:rPr sz="1500" b="1">
                <a:solidFill>
                  <a:srgbClr val="15181B"/>
                </a:solidFill>
                <a:latin typeface="Arial"/>
              </a:rPr>
              <a:t>Primary score: </a:t>
            </a:r>
            <a:r>
              <a:rPr sz="1500" b="0">
                <a:solidFill>
                  <a:srgbClr val="15181B"/>
                </a:solidFill>
                <a:latin typeface="Arial"/>
              </a:rPr>
              <a:t>information gain over climatology, in bits per cell-window.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500">
                <a:solidFill>
                  <a:srgbClr val="2A78D6"/>
                </a:solidFill>
                <a:latin typeface="Arial"/>
              </a:rPr>
              <a:t>▪  </a:t>
            </a:r>
            <a:r>
              <a:rPr sz="1500" b="1">
                <a:solidFill>
                  <a:srgbClr val="15181B"/>
                </a:solidFill>
                <a:latin typeface="Arial"/>
              </a:rPr>
              <a:t>Honesty: </a:t>
            </a:r>
            <a:r>
              <a:rPr sz="1500" b="0">
                <a:solidFill>
                  <a:srgbClr val="15181B"/>
                </a:solidFill>
                <a:latin typeface="Arial"/>
              </a:rPr>
              <a:t>calibration (ECE, Brier) and a judge score that does not collapse vs test.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500">
                <a:solidFill>
                  <a:srgbClr val="2A78D6"/>
                </a:solidFill>
                <a:latin typeface="Arial"/>
              </a:rPr>
              <a:t>▪  </a:t>
            </a:r>
            <a:r>
              <a:rPr sz="1500" b="1">
                <a:solidFill>
                  <a:srgbClr val="15181B"/>
                </a:solidFill>
                <a:latin typeface="Arial"/>
              </a:rPr>
              <a:t>Stakeholders: </a:t>
            </a:r>
            <a:r>
              <a:rPr sz="1500" b="0">
                <a:solidFill>
                  <a:srgbClr val="15181B"/>
                </a:solidFill>
                <a:latin typeface="Arial"/>
              </a:rPr>
              <a:t>30-day entry decisions for rescue crews, 6-month planning for repair crews.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371600"/>
            <a:ext cx="512064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D9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0" y="1371600"/>
            <a:ext cx="64008" cy="448056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84848" y="1481328"/>
            <a:ext cx="4800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1500" b="1" i="0">
                <a:solidFill>
                  <a:srgbClr val="15181B"/>
                </a:solidFill>
                <a:latin typeface="Arial"/>
              </a:rPr>
              <a:t>Scoring equations (from the challenge README)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874519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300">
                <a:solidFill>
                  <a:srgbClr val="2A78D6"/>
                </a:solidFill>
                <a:latin typeface="Arial"/>
              </a:rPr>
              <a:t>▪  </a:t>
            </a:r>
            <a:r>
              <a:rPr sz="1300" b="0">
                <a:solidFill>
                  <a:srgbClr val="15181B"/>
                </a:solidFill>
                <a:latin typeface="Arial"/>
              </a:rPr>
              <a:t>LL(q) = −mean[ y·ln q + (1−y)·ln(1−q) ]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300">
                <a:solidFill>
                  <a:srgbClr val="2A78D6"/>
                </a:solidFill>
                <a:latin typeface="Arial"/>
              </a:rPr>
              <a:t>▪  </a:t>
            </a:r>
            <a:r>
              <a:rPr sz="1300" b="0">
                <a:solidFill>
                  <a:srgbClr val="15181B"/>
                </a:solidFill>
                <a:latin typeface="Arial"/>
              </a:rPr>
              <a:t>IG = [ LL(base rate) − LL(forecast) ] / ln 2   (bits)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300">
                <a:solidFill>
                  <a:srgbClr val="2A78D6"/>
                </a:solidFill>
                <a:latin typeface="Arial"/>
              </a:rPr>
              <a:t>▪  </a:t>
            </a:r>
            <a:r>
              <a:rPr sz="1300" b="0">
                <a:solidFill>
                  <a:srgbClr val="15181B"/>
                </a:solidFill>
                <a:latin typeface="Arial"/>
              </a:rPr>
              <a:t>q clipped to [10⁻⁴, 1−10⁻⁴]: a forecast never claims certainty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300">
                <a:solidFill>
                  <a:srgbClr val="2A78D6"/>
                </a:solidFill>
                <a:latin typeface="Arial"/>
              </a:rPr>
              <a:t>▪  </a:t>
            </a:r>
            <a:r>
              <a:rPr sz="1300" b="0">
                <a:solidFill>
                  <a:srgbClr val="15181B"/>
                </a:solidFill>
                <a:latin typeface="Arial"/>
              </a:rPr>
              <a:t>ECE = Σ_b (n_b/N)·| ȳ_b − q̄_b |  over 10 probability bins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300">
                <a:solidFill>
                  <a:srgbClr val="2A78D6"/>
                </a:solidFill>
                <a:latin typeface="Arial"/>
              </a:rPr>
              <a:t>▪  </a:t>
            </a:r>
            <a:r>
              <a:rPr sz="1300" b="0">
                <a:solidFill>
                  <a:srgbClr val="15181B"/>
                </a:solidFill>
                <a:latin typeface="Arial"/>
              </a:rPr>
              <a:t>Entropy ceiling at 7.5% base rate ≈ 0.38 bits: no forecaster can exceed 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1100" b="1" i="0">
                <a:solidFill>
                  <a:srgbClr val="7C8388"/>
                </a:solidFill>
                <a:latin typeface="Arial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24712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2800" b="1" i="0">
                <a:solidFill>
                  <a:srgbClr val="15181B"/>
                </a:solidFill>
                <a:latin typeface="Arial"/>
              </a:rPr>
              <a:t>Data: five raw streams, split strictly by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900" b="0" i="0">
                <a:solidFill>
                  <a:srgbClr val="7C8388"/>
                </a:solidFill>
                <a:latin typeface="Arial"/>
              </a:rPr>
              <a:t>Earthquake-Q · Team Schrödinger's Cats · QuantathonV3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7C8388"/>
                </a:solidFill>
                <a:latin typeface="Arial"/>
              </a:rPr>
              <a:t>4</a:t>
            </a:r>
          </a:p>
        </p:txBody>
      </p:sp>
      <p:pic>
        <p:nvPicPr>
          <p:cNvPr id="7" name="Picture 6" descr="06_data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15587"/>
            <a:ext cx="6766560" cy="4558345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60920" y="1325880"/>
          <a:ext cx="43891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508760"/>
                <a:gridCol w="1005840"/>
                <a:gridCol w="731520"/>
              </a:tblGrid>
              <a:tr h="3474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Split</a:t>
                      </a:r>
                    </a:p>
                  </a:txBody>
                  <a:tcPr marL="73152" marR="73152" marT="27432" marB="27432"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Origins</a:t>
                      </a:r>
                    </a:p>
                  </a:txBody>
                  <a:tcPr marL="73152" marR="73152" marT="27432" marB="27432"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Rows</a:t>
                      </a:r>
                    </a:p>
                  </a:txBody>
                  <a:tcPr marL="73152" marR="73152" marT="27432" marB="27432"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Positive</a:t>
                      </a:r>
                    </a:p>
                  </a:txBody>
                  <a:tcPr marL="73152" marR="73152" marT="27432" marB="27432">
                    <a:solidFill>
                      <a:srgbClr val="0D366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B"/>
                          </a:solidFill>
                          <a:latin typeface="Arial"/>
                        </a:rPr>
                        <a:t>Fit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5181B"/>
                          </a:solidFill>
                          <a:latin typeface="Arial"/>
                        </a:rPr>
                        <a:t>2001-01 → 2018-12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5181B"/>
                          </a:solidFill>
                          <a:latin typeface="Arial"/>
                        </a:rPr>
                        <a:t>5,025,240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5181B"/>
                          </a:solidFill>
                          <a:latin typeface="Arial"/>
                        </a:rPr>
                        <a:t>5.8%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B"/>
                          </a:solidFill>
                          <a:latin typeface="Arial"/>
                        </a:rPr>
                        <a:t>Calibration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5181B"/>
                          </a:solidFill>
                          <a:latin typeface="Arial"/>
                        </a:rPr>
                        <a:t>2019-01 → 2020-12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5181B"/>
                          </a:solidFill>
                          <a:latin typeface="Arial"/>
                        </a:rPr>
                        <a:t>558,360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5181B"/>
                          </a:solidFill>
                          <a:latin typeface="Arial"/>
                        </a:rPr>
                        <a:t>7.6%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B"/>
                          </a:solidFill>
                          <a:latin typeface="Arial"/>
                        </a:rPr>
                        <a:t>Test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5181B"/>
                          </a:solidFill>
                          <a:latin typeface="Arial"/>
                        </a:rPr>
                        <a:t>2021-01 → 2023-09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5181B"/>
                          </a:solidFill>
                          <a:latin typeface="Arial"/>
                        </a:rPr>
                        <a:t>767,745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5181B"/>
                          </a:solidFill>
                          <a:latin typeface="Arial"/>
                        </a:rPr>
                        <a:t>7.5%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5181B"/>
                          </a:solidFill>
                          <a:latin typeface="Arial"/>
                        </a:rPr>
                        <a:t>Judge (once)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5181B"/>
                          </a:solidFill>
                          <a:latin typeface="Arial"/>
                        </a:rPr>
                        <a:t>2025-01 → 2026-02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5181B"/>
                          </a:solidFill>
                          <a:latin typeface="Arial"/>
                        </a:rPr>
                        <a:t>23,265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5181B"/>
                          </a:solidFill>
                          <a:latin typeface="Arial"/>
                        </a:rPr>
                        <a:t>7.9%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60920" y="3246120"/>
            <a:ext cx="4389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>
                <a:solidFill>
                  <a:srgbClr val="2A78D6"/>
                </a:solidFill>
                <a:latin typeface="Arial"/>
              </a:rPr>
              <a:t>▪  </a:t>
            </a:r>
            <a:r>
              <a:rPr sz="1200" b="0">
                <a:solidFill>
                  <a:srgbClr val="15181B"/>
                </a:solidFill>
                <a:latin typeface="Arial"/>
              </a:rPr>
              <a:t>Seismic catalog: 13,624 USGS events (train+test files); magnitude of completeness Mc = 1.75.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>
                <a:solidFill>
                  <a:srgbClr val="2A78D6"/>
                </a:solidFill>
                <a:latin typeface="Arial"/>
              </a:rPr>
              <a:t>▪  </a:t>
            </a:r>
            <a:r>
              <a:rPr sz="1200" b="0">
                <a:solidFill>
                  <a:srgbClr val="15181B"/>
                </a:solidFill>
                <a:latin typeface="Arial"/>
              </a:rPr>
              <a:t>Each example = cell × monthly issue date × 15 lead windows (train the way you are scored).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>
                <a:solidFill>
                  <a:srgbClr val="2A78D6"/>
                </a:solidFill>
                <a:latin typeface="Arial"/>
              </a:rPr>
              <a:t>▪  </a:t>
            </a:r>
            <a:r>
              <a:rPr sz="1200" b="0">
                <a:solidFill>
                  <a:srgbClr val="15181B"/>
                </a:solidFill>
                <a:latin typeface="Arial"/>
              </a:rPr>
              <a:t>Features use only events strictly before the issue date.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00">
                <a:solidFill>
                  <a:srgbClr val="2A78D6"/>
                </a:solidFill>
                <a:latin typeface="Arial"/>
              </a:rPr>
              <a:t>▪  </a:t>
            </a:r>
            <a:r>
              <a:rPr sz="1200" b="0">
                <a:solidFill>
                  <a:srgbClr val="15181B"/>
                </a:solidFill>
                <a:latin typeface="Arial"/>
              </a:rPr>
              <a:t>Geomagnetic, solar, tidal and GPS streams were tested and excluded (slide 9).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1100" b="1" i="0">
                <a:solidFill>
                  <a:srgbClr val="7C8388"/>
                </a:solidFill>
                <a:latin typeface="Arial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24712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2800" b="1" i="0">
                <a:solidFill>
                  <a:srgbClr val="15181B"/>
                </a:solidFill>
                <a:latin typeface="Arial"/>
              </a:rPr>
              <a:t>Model architecture: gradient-boosted trees + per-horizon calibration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900" b="0" i="0">
                <a:solidFill>
                  <a:srgbClr val="7C8388"/>
                </a:solidFill>
                <a:latin typeface="Arial"/>
              </a:rPr>
              <a:t>Earthquake-Q · Team Schrödinger's Cats · QuantathonV3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7C8388"/>
                </a:solidFill>
                <a:latin typeface="Arial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20116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D36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645919"/>
            <a:ext cx="1792224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15181B"/>
                </a:solidFill>
                <a:latin typeface="Arial"/>
              </a:rPr>
              <a:t>Raw catalog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057400"/>
            <a:ext cx="1792224" cy="1280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4D5459"/>
                </a:solidFill>
                <a:latin typeface="Arial"/>
              </a:rPr>
              <a:t>USGS events
M ≥ 1.75, before
issue date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42032" y="2331720"/>
            <a:ext cx="201168" cy="274320"/>
          </a:xfrm>
          <a:prstGeom prst="rightArrow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70632" y="1508760"/>
            <a:ext cx="20116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D36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1645919"/>
            <a:ext cx="1792224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15181B"/>
                </a:solidFill>
                <a:latin typeface="Arial"/>
              </a:rPr>
              <a:t>10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057400"/>
            <a:ext cx="1792224" cy="1280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4D5459"/>
                </a:solidFill>
                <a:latin typeface="Arial"/>
              </a:rPr>
              <a:t>counts 7/30/90/365 d
within 100 km, recency,
acceleration, lat/lon,
horizon h/14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09744" y="2331720"/>
            <a:ext cx="201168" cy="274320"/>
          </a:xfrm>
          <a:prstGeom prst="rightArrow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38344" y="1508760"/>
            <a:ext cx="2011680" cy="1920240"/>
          </a:xfrm>
          <a:prstGeom prst="roundRect">
            <a:avLst>
              <a:gd name="adj" fmla="val 8000"/>
            </a:avLst>
          </a:prstGeom>
          <a:solidFill>
            <a:srgbClr val="0D366B"/>
          </a:solidFill>
          <a:ln>
            <a:solidFill>
              <a:srgbClr val="0D36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48072" y="1645919"/>
            <a:ext cx="1792224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Pooled GBDT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8072" y="2057400"/>
            <a:ext cx="1792224" cy="1280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FFFFFF"/>
                </a:solidFill>
                <a:latin typeface="Arial"/>
              </a:rPr>
              <a:t>HistGradientBoosting
120 trees × 31 leaves
one model, 15 horizons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077456" y="2331720"/>
            <a:ext cx="201168" cy="274320"/>
          </a:xfrm>
          <a:prstGeom prst="rightArrow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06056" y="1508760"/>
            <a:ext cx="2011680" cy="1920240"/>
          </a:xfrm>
          <a:prstGeom prst="roundRect">
            <a:avLst>
              <a:gd name="adj" fmla="val 8000"/>
            </a:avLst>
          </a:prstGeom>
          <a:solidFill>
            <a:srgbClr val="0D366B"/>
          </a:solidFill>
          <a:ln>
            <a:solidFill>
              <a:srgbClr val="0D36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15784" y="1645919"/>
            <a:ext cx="1792224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Isotonic ×15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15784" y="2057400"/>
            <a:ext cx="1792224" cy="1280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FFFFFF"/>
                </a:solidFill>
                <a:latin typeface="Arial"/>
              </a:rPr>
              <a:t>one calibrator per
horizon, fit on
2019–2020 only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345168" y="2331720"/>
            <a:ext cx="201168" cy="274320"/>
          </a:xfrm>
          <a:prstGeom prst="rightArrow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573768" y="1508760"/>
            <a:ext cx="20116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D36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83496" y="1645919"/>
            <a:ext cx="1792224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15181B"/>
                </a:solidFill>
                <a:latin typeface="Arial"/>
              </a:rPr>
              <a:t>Clip +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3496" y="2057400"/>
            <a:ext cx="1792224" cy="1280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4D5459"/>
                </a:solidFill>
                <a:latin typeface="Arial"/>
              </a:rPr>
              <a:t>[10⁻⁴, 1−10⁻⁴]
23,265 probabilities
cell × window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749039"/>
            <a:ext cx="5669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300">
                <a:solidFill>
                  <a:srgbClr val="2A78D6"/>
                </a:solidFill>
                <a:latin typeface="Arial"/>
              </a:rPr>
              <a:t>▪  </a:t>
            </a:r>
            <a:r>
              <a:rPr sz="1300" b="1">
                <a:solidFill>
                  <a:srgbClr val="15181B"/>
                </a:solidFill>
                <a:latin typeface="Arial"/>
              </a:rPr>
              <a:t>Why trees: </a:t>
            </a:r>
            <a:r>
              <a:rPr sz="1300" b="0">
                <a:solidFill>
                  <a:srgbClr val="15181B"/>
                </a:solidFill>
                <a:latin typeface="Arial"/>
              </a:rPr>
              <a:t>strongest learner for tabular data in the Deck and in benchmarks (Grinsztajn 2022); our MLP scored lower.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300">
                <a:solidFill>
                  <a:srgbClr val="2A78D6"/>
                </a:solidFill>
                <a:latin typeface="Arial"/>
              </a:rPr>
              <a:t>▪  </a:t>
            </a:r>
            <a:r>
              <a:rPr sz="1300" b="1">
                <a:solidFill>
                  <a:srgbClr val="15181B"/>
                </a:solidFill>
                <a:latin typeface="Arial"/>
              </a:rPr>
              <a:t>Why pooled: </a:t>
            </a:r>
            <a:r>
              <a:rPr sz="1300" b="0">
                <a:solidFill>
                  <a:srgbClr val="15181B"/>
                </a:solidFill>
                <a:latin typeface="Arial"/>
              </a:rPr>
              <a:t>one model sees all 15 horizons (5.0 M rows) instead of 15 small models; +0.0022 bits vs per-horizon models.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300">
                <a:solidFill>
                  <a:srgbClr val="2A78D6"/>
                </a:solidFill>
                <a:latin typeface="Arial"/>
              </a:rPr>
              <a:t>▪  </a:t>
            </a:r>
            <a:r>
              <a:rPr sz="1300" b="1">
                <a:solidFill>
                  <a:srgbClr val="15181B"/>
                </a:solidFill>
                <a:latin typeface="Arial"/>
              </a:rPr>
              <a:t>Why isotonic per horizon: </a:t>
            </a:r>
            <a:r>
              <a:rPr sz="1300" b="0">
                <a:solidFill>
                  <a:srgbClr val="15181B"/>
                </a:solidFill>
                <a:latin typeface="Arial"/>
              </a:rPr>
              <a:t>monotone re-mapping to true frequencies, fit on later held-out dates only.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749039"/>
            <a:ext cx="530352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D9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3749039"/>
            <a:ext cx="64008" cy="25146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01968" y="3858768"/>
            <a:ext cx="49834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1450" b="1" i="0">
                <a:solidFill>
                  <a:srgbClr val="15181B"/>
                </a:solidFill>
                <a:latin typeface="Arial"/>
              </a:rPr>
              <a:t>Gradient boosting in one 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251959"/>
            <a:ext cx="49834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>
                <a:solidFill>
                  <a:srgbClr val="2A78D6"/>
                </a:solidFill>
                <a:latin typeface="Arial"/>
              </a:rPr>
              <a:t>▪  </a:t>
            </a:r>
            <a:r>
              <a:rPr sz="1250" b="0">
                <a:solidFill>
                  <a:srgbClr val="15181B"/>
                </a:solidFill>
                <a:latin typeface="Arial"/>
              </a:rPr>
              <a:t>F_m(x) = F_{m−1}(x) + η · f_m(x),  η = 0.06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>
                <a:solidFill>
                  <a:srgbClr val="2A78D6"/>
                </a:solidFill>
                <a:latin typeface="Arial"/>
              </a:rPr>
              <a:t>▪  </a:t>
            </a:r>
            <a:r>
              <a:rPr sz="1250" b="0">
                <a:solidFill>
                  <a:srgbClr val="15181B"/>
                </a:solidFill>
                <a:latin typeface="Arial"/>
              </a:rPr>
              <a:t>f_m = regression tree fit to the gradient of log loss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>
                <a:solidFill>
                  <a:srgbClr val="2A78D6"/>
                </a:solidFill>
                <a:latin typeface="Arial"/>
              </a:rPr>
              <a:t>▪  </a:t>
            </a:r>
            <a:r>
              <a:rPr sz="1250" b="0">
                <a:solidFill>
                  <a:srgbClr val="15181B"/>
                </a:solidFill>
                <a:latin typeface="Arial"/>
              </a:rPr>
              <a:t>Histogram splits over 255 bins; L2 penalty λ = 1.0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>
                <a:solidFill>
                  <a:srgbClr val="2A78D6"/>
                </a:solidFill>
                <a:latin typeface="Arial"/>
              </a:rPr>
              <a:t>▪  </a:t>
            </a:r>
            <a:r>
              <a:rPr sz="1250" b="0">
                <a:solidFill>
                  <a:srgbClr val="15181B"/>
                </a:solidFill>
                <a:latin typeface="Arial"/>
              </a:rPr>
              <a:t>Learned: 120 trees, 3,720 leaves, ≈10,920 values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1100" b="1" i="0">
                <a:solidFill>
                  <a:srgbClr val="7C8388"/>
                </a:solidFill>
                <a:latin typeface="Arial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24712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2800" b="1" i="0">
                <a:solidFill>
                  <a:srgbClr val="15181B"/>
                </a:solidFill>
                <a:latin typeface="Arial"/>
              </a:rPr>
              <a:t>Experimental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900" b="0" i="0">
                <a:solidFill>
                  <a:srgbClr val="7C8388"/>
                </a:solidFill>
                <a:latin typeface="Arial"/>
              </a:rPr>
              <a:t>Earthquake-Q · Team Schrödinger's Cats · QuantathonV3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7C8388"/>
                </a:solidFill>
                <a:latin typeface="Arial"/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25880"/>
          <a:ext cx="6949440" cy="4325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4297680"/>
              </a:tblGrid>
              <a:tr h="39319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Parameter</a:t>
                      </a:r>
                    </a:p>
                  </a:txBody>
                  <a:tcPr marL="73152" marR="73152" marT="27432" marB="27432"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 marL="73152" marR="73152" marT="27432" marB="27432">
                    <a:solidFill>
                      <a:srgbClr val="0D366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B"/>
                          </a:solidFill>
                          <a:latin typeface="Arial"/>
                        </a:rPr>
                        <a:t>Algorithm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B"/>
                          </a:solidFill>
                          <a:latin typeface="Arial"/>
                        </a:rPr>
                        <a:t>scikit-learn HistGradientBoostingClassifier (log loss)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B"/>
                          </a:solidFill>
                          <a:latin typeface="Arial"/>
                        </a:rPr>
                        <a:t>Boosting iterations (≈ epochs)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5181B"/>
                          </a:solidFill>
                          <a:latin typeface="Arial"/>
                        </a:rPr>
                        <a:t>120 of 120; early stopping armed, not triggered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B"/>
                          </a:solidFill>
                          <a:latin typeface="Arial"/>
                        </a:rPr>
                        <a:t>Batch size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B"/>
                          </a:solidFill>
                          <a:latin typeface="Arial"/>
                        </a:rPr>
                        <a:t>Not applicable: each iteration fits one tree on the full fit set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B"/>
                          </a:solidFill>
                          <a:latin typeface="Arial"/>
                        </a:rPr>
                        <a:t>Learning rate η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5181B"/>
                          </a:solidFill>
                          <a:latin typeface="Arial"/>
                        </a:rPr>
                        <a:t>0.06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B"/>
                          </a:solidFill>
                          <a:latin typeface="Arial"/>
                        </a:rPr>
                        <a:t>Max leaves / min rows per leaf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5181B"/>
                          </a:solidFill>
                          <a:latin typeface="Arial"/>
                        </a:rPr>
                        <a:t>31 / 20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B"/>
                          </a:solidFill>
                          <a:latin typeface="Arial"/>
                        </a:rPr>
                        <a:t>Max depth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B"/>
                          </a:solidFill>
                          <a:latin typeface="Arial"/>
                        </a:rPr>
                        <a:t>unlimited (deepest tree: 15)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B"/>
                          </a:solidFill>
                          <a:latin typeface="Arial"/>
                        </a:rPr>
                        <a:t>L2 regularization / bins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5181B"/>
                          </a:solidFill>
                          <a:latin typeface="Arial"/>
                        </a:rPr>
                        <a:t>1.0 / 255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B"/>
                          </a:solidFill>
                          <a:latin typeface="Arial"/>
                        </a:rPr>
                        <a:t>Early-stopping holdout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B"/>
                          </a:solidFill>
                          <a:latin typeface="Arial"/>
                        </a:rPr>
                        <a:t>random 10% of fit rows, patience 10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B"/>
                          </a:solidFill>
                          <a:latin typeface="Arial"/>
                        </a:rPr>
                        <a:t>Calibration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5181B"/>
                          </a:solidFill>
                          <a:latin typeface="Arial"/>
                        </a:rPr>
                        <a:t>15 isotonic regressions, 2019–2020 origins, clip [1e-4, 1−1e-4]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B"/>
                          </a:solidFill>
                          <a:latin typeface="Arial"/>
                        </a:rPr>
                        <a:t>Seed / software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5181B"/>
                          </a:solidFill>
                          <a:latin typeface="Arial"/>
                        </a:rPr>
                        <a:t>42 · Python 3.12.14, scikit-learn 1.9.1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05_trai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408164"/>
            <a:ext cx="4160520" cy="221287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35240" y="3931920"/>
            <a:ext cx="416052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D9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35240" y="3931920"/>
            <a:ext cx="64008" cy="2286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6408" y="4041648"/>
            <a:ext cx="38404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1400" b="1" i="0">
                <a:solidFill>
                  <a:srgbClr val="15181B"/>
                </a:solidFill>
                <a:latin typeface="Arial"/>
              </a:rPr>
              <a:t>Comparison models on the same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19" y="4434840"/>
            <a:ext cx="3840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00">
                <a:solidFill>
                  <a:srgbClr val="2A78D6"/>
                </a:solidFill>
                <a:latin typeface="Arial"/>
              </a:rPr>
              <a:t>▪  </a:t>
            </a:r>
            <a:r>
              <a:rPr sz="1200" b="0">
                <a:solidFill>
                  <a:srgbClr val="15181B"/>
                </a:solidFill>
                <a:latin typeface="Arial"/>
              </a:rPr>
              <a:t>Climatology, location-only prior, ETAS approximation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00">
                <a:solidFill>
                  <a:srgbClr val="2A78D6"/>
                </a:solidFill>
                <a:latin typeface="Arial"/>
              </a:rPr>
              <a:t>▪  </a:t>
            </a:r>
            <a:r>
              <a:rPr sz="1200" b="0">
                <a:solidFill>
                  <a:srgbClr val="15181B"/>
                </a:solidFill>
                <a:latin typeface="Arial"/>
              </a:rPr>
              <a:t>15 per-horizon GBDTs; MLP (32,16), Adam lr 1e-3, batch 256, 58–69 epochs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00">
                <a:solidFill>
                  <a:srgbClr val="2A78D6"/>
                </a:solidFill>
                <a:latin typeface="Arial"/>
              </a:rPr>
              <a:t>▪  </a:t>
            </a:r>
            <a:r>
              <a:rPr sz="1200" b="0">
                <a:solidFill>
                  <a:srgbClr val="15181B"/>
                </a:solidFill>
                <a:latin typeface="Arial"/>
              </a:rPr>
              <a:t>External-driver ablations; 4-qubit quantum features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1100" b="1" i="0">
                <a:solidFill>
                  <a:srgbClr val="7C8388"/>
                </a:solidFill>
                <a:latin typeface="Arial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24712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2800" b="1" i="0">
                <a:solidFill>
                  <a:srgbClr val="15181B"/>
                </a:solidFill>
                <a:latin typeface="Arial"/>
              </a:rPr>
              <a:t>Methods and the literature behind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900" b="0" i="0">
                <a:solidFill>
                  <a:srgbClr val="7C8388"/>
                </a:solidFill>
                <a:latin typeface="Arial"/>
              </a:rPr>
              <a:t>Earthquake-Q · Team Schrödinger's Cats · QuantathonV3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7C8388"/>
                </a:solidFill>
                <a:latin typeface="Arial"/>
              </a:rPr>
              <a:t>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80160"/>
          <a:ext cx="11155680" cy="48143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4480560"/>
                <a:gridCol w="4023360"/>
              </a:tblGrid>
              <a:tr h="37033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Method</a:t>
                      </a:r>
                    </a:p>
                  </a:txBody>
                  <a:tcPr marL="73152" marR="73152" marT="27432" marB="27432"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Equation / idea</a:t>
                      </a:r>
                    </a:p>
                  </a:txBody>
                  <a:tcPr marL="73152" marR="73152" marT="27432" marB="27432"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Reference</a:t>
                      </a:r>
                    </a:p>
                  </a:txBody>
                  <a:tcPr marL="73152" marR="73152" marT="27432" marB="27432">
                    <a:solidFill>
                      <a:srgbClr val="0D366B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Gutenberg–Richter law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log₁₀ N(≥M) = a − b·M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Gutenberg &amp; Richter (1944)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b-value (max. likelihood)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b = log₁₀e / (M̄ − Mc)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Aki (1965)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Completeness Mc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MAXC + 0.2 → Mc = 1.75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Wiemer &amp; Wyss (2000); Mignan &amp; Woessner (2012)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ETAS triggering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λ(t) = μ + Σ K·e^{α(mᵢ−Mc)}·(t−tᵢ+c)^{−p}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Ogata (1988); Utsu (1961)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Declustering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space–time windows by magnitude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Gardner &amp; Knopoff (1974)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Gradient boosting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F_m = F_{m−1} + η·f_m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Friedman (2001); Ke et al. (2017)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Isotonic calibration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monotone map score → frequency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Zadrozny &amp; Elkan (2002)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Proper scoring / IG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log score; IG in bits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Gneiting &amp; Raftery (2007)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Calibration error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ECE over probability bins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Guo et al. (2017)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Block bootstrap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resample contiguous time blocks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Künsch (1989)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Permutation importance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loss increase when a feature is shuffled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Breiman (2001)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Quantum feature maps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angle encoding + Pauli read-out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Havlíček et al. (2019); Schuld &amp; Killoran (2019)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1100" b="1" i="0">
                <a:solidFill>
                  <a:srgbClr val="7C8388"/>
                </a:solidFill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24712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2800" b="1" i="0">
                <a:solidFill>
                  <a:srgbClr val="15181B"/>
                </a:solidFill>
                <a:latin typeface="Arial"/>
              </a:rPr>
              <a:t>Results: skilful, calibrated, tied with 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900" b="0" i="0">
                <a:solidFill>
                  <a:srgbClr val="7C8388"/>
                </a:solidFill>
                <a:latin typeface="Arial"/>
              </a:rPr>
              <a:t>Earthquake-Q · Team Schrödinger's Cats · QuantathonV3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7C8388"/>
                </a:solidFill>
                <a:latin typeface="Arial"/>
              </a:rPr>
              <a:t>8</a:t>
            </a:r>
          </a:p>
        </p:txBody>
      </p:sp>
      <p:pic>
        <p:nvPicPr>
          <p:cNvPr id="7" name="Picture 6" descr="01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49061"/>
            <a:ext cx="7223760" cy="31540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55279" y="1325880"/>
            <a:ext cx="384048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3000" b="1" i="0">
                <a:solidFill>
                  <a:srgbClr val="2A78D6"/>
                </a:solidFill>
                <a:latin typeface="Arial"/>
              </a:rPr>
              <a:t>+0.1458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892807"/>
            <a:ext cx="384048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1150" b="0" i="0">
                <a:solidFill>
                  <a:srgbClr val="4D5459"/>
                </a:solidFill>
                <a:latin typeface="Arial"/>
              </a:rPr>
              <a:t>bits on test (2021–2023), 767,745 cell-windows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514600"/>
            <a:ext cx="384048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3000" b="1" i="0">
                <a:solidFill>
                  <a:srgbClr val="15181B"/>
                </a:solidFill>
                <a:latin typeface="Arial"/>
              </a:rPr>
              <a:t>0.906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3081528"/>
            <a:ext cx="384048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1150" b="0" i="0">
                <a:solidFill>
                  <a:srgbClr val="4D5459"/>
                </a:solidFill>
                <a:latin typeface="Arial"/>
              </a:rPr>
              <a:t>ROC AUC (Deck: ~0.85 comes from location alone)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3703320"/>
            <a:ext cx="384048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3000" b="1" i="0">
                <a:solidFill>
                  <a:srgbClr val="15181B"/>
                </a:solidFill>
                <a:latin typeface="Arial"/>
              </a:rPr>
              <a:t>0.0071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4270248"/>
            <a:ext cx="384048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1150" b="0" i="0">
                <a:solidFill>
                  <a:srgbClr val="4D5459"/>
                </a:solidFill>
                <a:latin typeface="Arial"/>
              </a:rPr>
              <a:t>calibration error (Deck target &lt; 0.02)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84632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300">
                <a:solidFill>
                  <a:srgbClr val="2A78D6"/>
                </a:solidFill>
                <a:latin typeface="Arial"/>
              </a:rPr>
              <a:t>▪  </a:t>
            </a:r>
            <a:r>
              <a:rPr sz="1300" b="0">
                <a:solidFill>
                  <a:srgbClr val="15181B"/>
                </a:solidFill>
                <a:latin typeface="Arial"/>
              </a:rPr>
              <a:t>Matches the Deck's finding of parity with physics: ETAS approximation 0.1453 bits, Δ −0.0005, paired 95% CI [−0.0016, +0.0006].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300">
                <a:solidFill>
                  <a:srgbClr val="2A78D6"/>
                </a:solidFill>
                <a:latin typeface="Arial"/>
              </a:rPr>
              <a:t>▪  </a:t>
            </a:r>
            <a:r>
              <a:rPr sz="1300" b="0">
                <a:solidFill>
                  <a:srgbClr val="15181B"/>
                </a:solidFill>
                <a:latin typeface="Arial"/>
              </a:rPr>
              <a:t>Location alone gets 0.141 bits (97% of ours; the Deck reports ~93%). Feature engineering adds the rest.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1100" b="1" i="0">
                <a:solidFill>
                  <a:srgbClr val="7C8388"/>
                </a:solidFill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24712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2800" b="1" i="0">
                <a:solidFill>
                  <a:srgbClr val="15181B"/>
                </a:solidFill>
                <a:latin typeface="Arial"/>
              </a:rPr>
              <a:t>Held-out check on the sealed judge window: no leakage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900" b="0" i="0">
                <a:solidFill>
                  <a:srgbClr val="7C8388"/>
                </a:solidFill>
                <a:latin typeface="Arial"/>
              </a:rPr>
              <a:t>Earthquake-Q · Team Schrödinger's Cats · QuantathonV3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7C8388"/>
                </a:solidFill>
                <a:latin typeface="Arial"/>
              </a:rPr>
              <a:t>9</a:t>
            </a:r>
          </a:p>
        </p:txBody>
      </p:sp>
      <p:pic>
        <p:nvPicPr>
          <p:cNvPr id="7" name="Picture 6" descr="10_test_vs_ju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998" y="1234440"/>
            <a:ext cx="9697523" cy="35661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4892040"/>
          <a:ext cx="6766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188720"/>
                <a:gridCol w="1005840"/>
                <a:gridCol w="1097280"/>
              </a:tblGrid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Forecast on judge (used once)</a:t>
                      </a:r>
                    </a:p>
                  </a:txBody>
                  <a:tcPr marL="73152" marR="73152" marT="27432" marB="27432"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IG (bits)</a:t>
                      </a:r>
                    </a:p>
                  </a:txBody>
                  <a:tcPr marL="73152" marR="73152" marT="27432" marB="27432"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AUC</a:t>
                      </a:r>
                    </a:p>
                  </a:txBody>
                  <a:tcPr marL="73152" marR="73152" marT="27432" marB="27432"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ECE</a:t>
                      </a:r>
                    </a:p>
                  </a:txBody>
                  <a:tcPr marL="73152" marR="73152" marT="27432" marB="27432">
                    <a:solidFill>
                      <a:srgbClr val="0D36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181B"/>
                          </a:solidFill>
                          <a:latin typeface="Arial"/>
                        </a:rPr>
                        <a:t>Frozen model (corrected file)</a:t>
                      </a:r>
                    </a:p>
                  </a:txBody>
                  <a:tcPr marL="73152" marR="73152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5181B"/>
                          </a:solidFill>
                          <a:latin typeface="Arial"/>
                        </a:rPr>
                        <a:t>+0.1605</a:t>
                      </a:r>
                    </a:p>
                  </a:txBody>
                  <a:tcPr marL="73152" marR="73152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5181B"/>
                          </a:solidFill>
                          <a:latin typeface="Arial"/>
                        </a:rPr>
                        <a:t>0.913</a:t>
                      </a:r>
                    </a:p>
                  </a:txBody>
                  <a:tcPr marL="73152" marR="73152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5181B"/>
                          </a:solidFill>
                          <a:latin typeface="Arial"/>
                        </a:rPr>
                        <a:t>0.0066</a:t>
                      </a:r>
                    </a:p>
                  </a:txBody>
                  <a:tcPr marL="73152" marR="73152" marT="27432" marB="27432">
                    <a:solidFill>
                      <a:srgbClr val="EEF4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B"/>
                          </a:solidFill>
                          <a:latin typeface="Arial"/>
                        </a:rPr>
                        <a:t>Location-only baseline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5181B"/>
                          </a:solidFill>
                          <a:latin typeface="Arial"/>
                        </a:rPr>
                        <a:t>+0.1503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5181B"/>
                          </a:solidFill>
                          <a:latin typeface="Arial"/>
                        </a:rPr>
                        <a:t>0.907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5181B"/>
                          </a:solidFill>
                          <a:latin typeface="Arial"/>
                        </a:rPr>
                        <a:t>0.0166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81B"/>
                          </a:solidFill>
                          <a:latin typeface="Arial"/>
                        </a:rPr>
                        <a:t>Original file (row bug)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5181B"/>
                          </a:solidFill>
                          <a:latin typeface="Arial"/>
                        </a:rPr>
                        <a:t>-0.3700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5181B"/>
                          </a:solidFill>
                          <a:latin typeface="Arial"/>
                        </a:rPr>
                        <a:t>0.514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5181B"/>
                          </a:solidFill>
                          <a:latin typeface="Arial"/>
                        </a:rPr>
                        <a:t>0.0879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498079" y="4892040"/>
            <a:ext cx="425196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D9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4892040"/>
            <a:ext cx="64008" cy="13716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99248" y="5001768"/>
            <a:ext cx="3931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1400" b="1" i="0">
                <a:solidFill>
                  <a:srgbClr val="15181B"/>
                </a:solidFill>
                <a:latin typeface="Arial"/>
              </a:rPr>
              <a:t>Why this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9248" y="5394959"/>
            <a:ext cx="3931920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1200" b="0" i="0">
                <a:solidFill>
                  <a:srgbClr val="4D5459"/>
                </a:solidFill>
                <a:latin typeface="Arial"/>
              </a:rPr>
              <a:t>The Deck's tell-tale for leakage is a judge score far below test. Ours went up (+0.146 → +0.161), like the reference (+0.110 → +0.134).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1100" b="1" i="0">
                <a:solidFill>
                  <a:srgbClr val="7C8388"/>
                </a:solidFill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24712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2800" b="1" i="0">
                <a:solidFill>
                  <a:srgbClr val="15181B"/>
                </a:solidFill>
                <a:latin typeface="Arial"/>
              </a:rPr>
              <a:t>Honest probabilities at every lead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900" b="0" i="0">
                <a:solidFill>
                  <a:srgbClr val="7C8388"/>
                </a:solidFill>
                <a:latin typeface="Arial"/>
              </a:rPr>
              <a:t>Earthquake-Q · Team Schrödinger's Cats · QuantathonV3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7C8388"/>
                </a:solidFill>
                <a:latin typeface="Arial"/>
              </a:rPr>
              <a:t>10</a:t>
            </a:r>
          </a:p>
        </p:txBody>
      </p:sp>
      <p:pic>
        <p:nvPicPr>
          <p:cNvPr id="7" name="Picture 6" descr="04_reli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78193"/>
            <a:ext cx="5760720" cy="2427092"/>
          </a:xfrm>
          <a:prstGeom prst="rect">
            <a:avLst/>
          </a:prstGeom>
        </p:spPr>
      </p:pic>
      <p:pic>
        <p:nvPicPr>
          <p:cNvPr id="8" name="Picture 7" descr="03_per_horiz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001422"/>
            <a:ext cx="5760720" cy="20098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1325880"/>
            <a:ext cx="5349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50">
                <a:solidFill>
                  <a:srgbClr val="2A78D6"/>
                </a:solidFill>
                <a:latin typeface="Arial"/>
              </a:rPr>
              <a:t>▪  </a:t>
            </a:r>
            <a:r>
              <a:rPr sz="1350" b="0">
                <a:solidFill>
                  <a:srgbClr val="15181B"/>
                </a:solidFill>
                <a:latin typeface="Arial"/>
              </a:rPr>
              <a:t>When we say 12%, events followed 11.6% of the time on test (Elevated band); 29% → 26% (High band).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50">
                <a:solidFill>
                  <a:srgbClr val="2A78D6"/>
                </a:solidFill>
                <a:latin typeface="Arial"/>
              </a:rPr>
              <a:t>▪  </a:t>
            </a:r>
            <a:r>
              <a:rPr sz="1350" b="0">
                <a:solidFill>
                  <a:srgbClr val="15181B"/>
                </a:solidFill>
                <a:latin typeface="Arial"/>
              </a:rPr>
              <a:t>Skill holds for all 15 windows: test IG 0.137–0.151 bits; judge 0.104–0.245 bits per window.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50">
                <a:solidFill>
                  <a:srgbClr val="2A78D6"/>
                </a:solidFill>
                <a:latin typeface="Arial"/>
              </a:rPr>
              <a:t>▪  </a:t>
            </a:r>
            <a:r>
              <a:rPr sz="1350" b="0">
                <a:solidFill>
                  <a:srgbClr val="15181B"/>
                </a:solidFill>
                <a:latin typeface="Arial"/>
              </a:rPr>
              <a:t>Every per-horizon calibration error is below 0.02 on test (overall 0.0071).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50">
                <a:solidFill>
                  <a:srgbClr val="2A78D6"/>
                </a:solidFill>
                <a:latin typeface="Arial"/>
              </a:rPr>
              <a:t>▪  </a:t>
            </a:r>
            <a:r>
              <a:rPr sz="1350" b="0">
                <a:solidFill>
                  <a:srgbClr val="15181B"/>
                </a:solidFill>
                <a:latin typeface="Arial"/>
              </a:rPr>
              <a:t>Calibrators are fit on 2019–2020 only, never on training scores (Deck Module 5).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50">
                <a:solidFill>
                  <a:srgbClr val="2A78D6"/>
                </a:solidFill>
                <a:latin typeface="Arial"/>
              </a:rPr>
              <a:t>▪  </a:t>
            </a:r>
            <a:r>
              <a:rPr sz="1350" b="0">
                <a:solidFill>
                  <a:srgbClr val="15181B"/>
                </a:solidFill>
                <a:latin typeface="Arial"/>
              </a:rPr>
              <a:t>Caveat: a few labels near split boundaries overlap; removing them gives 0.1417 bits (-0.0041), so treat sub-0.004 gaps as ties.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1100" b="1" i="0">
                <a:solidFill>
                  <a:srgbClr val="7C8388"/>
                </a:solidFill>
                <a:latin typeface="Arial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24712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2800" b="1" i="0">
                <a:solidFill>
                  <a:srgbClr val="15181B"/>
                </a:solidFill>
                <a:latin typeface="Arial"/>
              </a:rPr>
              <a:t>What carries the signal: location and the last year of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900" b="0" i="0">
                <a:solidFill>
                  <a:srgbClr val="7C8388"/>
                </a:solidFill>
                <a:latin typeface="Arial"/>
              </a:rPr>
              <a:t>Earthquake-Q · Team Schrödinger's Cats · QuantathonV3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7C8388"/>
                </a:solidFill>
                <a:latin typeface="Arial"/>
              </a:rPr>
              <a:t>11</a:t>
            </a:r>
          </a:p>
        </p:txBody>
      </p:sp>
      <p:pic>
        <p:nvPicPr>
          <p:cNvPr id="7" name="Picture 6" descr="07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162" y="1234440"/>
            <a:ext cx="5457354" cy="3017520"/>
          </a:xfrm>
          <a:prstGeom prst="rect">
            <a:avLst/>
          </a:prstGeom>
        </p:spPr>
      </p:pic>
      <p:pic>
        <p:nvPicPr>
          <p:cNvPr id="8" name="Picture 7" descr="02_external_driv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991" y="1234440"/>
            <a:ext cx="5041137" cy="2377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443484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300">
                <a:solidFill>
                  <a:srgbClr val="2A78D6"/>
                </a:solidFill>
                <a:latin typeface="Arial"/>
              </a:rPr>
              <a:t>▪  </a:t>
            </a:r>
            <a:r>
              <a:rPr sz="1300" b="0">
                <a:solidFill>
                  <a:srgbClr val="15181B"/>
                </a:solidFill>
                <a:latin typeface="Arial"/>
              </a:rPr>
              <a:t>Permutation importance on held-out test rows (not tree gain, which rewards static location fingerprints — Deck Module 4).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300">
                <a:solidFill>
                  <a:srgbClr val="2A78D6"/>
                </a:solidFill>
                <a:latin typeface="Arial"/>
              </a:rPr>
              <a:t>▪  </a:t>
            </a:r>
            <a:r>
              <a:rPr sz="1300" b="0">
                <a:solidFill>
                  <a:srgbClr val="15181B"/>
                </a:solidFill>
                <a:latin typeface="Arial"/>
              </a:rPr>
              <a:t>Geomagnetic, solar, tidal and GPS features never help: four of five make the forecast reliably worse (paired 3-origin block bootstrap).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300">
                <a:solidFill>
                  <a:srgbClr val="2A78D6"/>
                </a:solidFill>
                <a:latin typeface="Arial"/>
              </a:rPr>
              <a:t>▪  </a:t>
            </a:r>
            <a:r>
              <a:rPr sz="1300" b="0">
                <a:solidFill>
                  <a:srgbClr val="15181B"/>
                </a:solidFill>
                <a:latin typeface="Arial"/>
              </a:rPr>
              <a:t>Short-window counts and acceleration ratios add little on their own: they overlap with the 365-day count.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1100" b="1" i="0">
                <a:solidFill>
                  <a:srgbClr val="7C8388"/>
                </a:solidFill>
                <a:latin typeface="Arial"/>
              </a:rPr>
              <a:t>QUANTUM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24712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2800" b="1" i="0">
                <a:solidFill>
                  <a:srgbClr val="15181B"/>
                </a:solidFill>
                <a:latin typeface="Arial"/>
              </a:rPr>
              <a:t>Quantum: did it help? Measured with a paired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900" b="0" i="0">
                <a:solidFill>
                  <a:srgbClr val="7C8388"/>
                </a:solidFill>
                <a:latin typeface="Arial"/>
              </a:rPr>
              <a:t>Earthquake-Q · Team Schrödinger's Cats · QuantathonV3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7C8388"/>
                </a:solidFill>
                <a:latin typeface="Arial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457200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D9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64008" cy="27432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389888"/>
            <a:ext cx="42519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1450" b="1" i="0">
                <a:solidFill>
                  <a:srgbClr val="15181B"/>
                </a:solidFill>
                <a:latin typeface="Arial"/>
              </a:rPr>
              <a:t>Why we tried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783080"/>
            <a:ext cx="4251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>
                <a:solidFill>
                  <a:srgbClr val="2A78D6"/>
                </a:solidFill>
                <a:latin typeface="Arial"/>
              </a:rPr>
              <a:t>▪  </a:t>
            </a:r>
            <a:r>
              <a:rPr sz="1250" b="0">
                <a:solidFill>
                  <a:srgbClr val="15181B"/>
                </a:solidFill>
                <a:latin typeface="Arial"/>
              </a:rPr>
              <a:t>The Deck's Approach 1: quantum feature maps as extra inputs to a classical model.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>
                <a:solidFill>
                  <a:srgbClr val="2A78D6"/>
                </a:solidFill>
                <a:latin typeface="Arial"/>
              </a:rPr>
              <a:t>▪  </a:t>
            </a:r>
            <a:r>
              <a:rPr sz="1250" b="0">
                <a:solidFill>
                  <a:srgbClr val="15181B"/>
                </a:solidFill>
                <a:latin typeface="Arial"/>
              </a:rPr>
              <a:t>Entangled read-outs (ZZ) can express feature interactions a single feature cannot.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250">
                <a:solidFill>
                  <a:srgbClr val="2A78D6"/>
                </a:solidFill>
                <a:latin typeface="Arial"/>
              </a:rPr>
              <a:t>▪  </a:t>
            </a:r>
            <a:r>
              <a:rPr sz="1250" b="0">
                <a:solidFill>
                  <a:srgbClr val="15181B"/>
                </a:solidFill>
                <a:latin typeface="Arial"/>
              </a:rPr>
              <a:t>Testable: classical vs classical + quantum on identical rows.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160520"/>
            <a:ext cx="4572000" cy="2148840"/>
          </a:xfrm>
          <a:prstGeom prst="rect">
            <a:avLst/>
          </a:prstGeom>
          <a:solidFill>
            <a:srgbClr val="FFFFFF"/>
          </a:solidFill>
          <a:ln>
            <a:solidFill>
              <a:srgbClr val="D9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4160520"/>
            <a:ext cx="64008" cy="21488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4270248"/>
            <a:ext cx="42519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1350" b="1" i="0">
                <a:solidFill>
                  <a:srgbClr val="15181B"/>
                </a:solidFill>
                <a:latin typeface="Arial"/>
              </a:rPr>
              <a:t>How we built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663440"/>
            <a:ext cx="42519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50">
                <a:solidFill>
                  <a:srgbClr val="2A78D6"/>
                </a:solidFill>
                <a:latin typeface="Arial"/>
              </a:rPr>
              <a:t>▪  </a:t>
            </a:r>
            <a:r>
              <a:rPr sz="1150" b="0">
                <a:solidFill>
                  <a:srgbClr val="15181B"/>
                </a:solidFill>
                <a:latin typeface="Arial"/>
              </a:rPr>
              <a:t>4 qubits, angle encoding RY(π·xᵢ) of dynamic features only (365-d count, recency, 2 acceleration ratios)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50">
                <a:solidFill>
                  <a:srgbClr val="2A78D6"/>
                </a:solidFill>
                <a:latin typeface="Arial"/>
              </a:rPr>
              <a:t>▪  </a:t>
            </a:r>
            <a:r>
              <a:rPr sz="1150" b="0">
                <a:solidFill>
                  <a:srgbClr val="15181B"/>
                </a:solidFill>
                <a:latin typeface="Arial"/>
              </a:rPr>
              <a:t>CNOT ring, re-upload, CNOT ring; read ⟨Zᵢ⟩ and ⟨ZᵢZᵢ₊₁⟩ → 8 features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50">
                <a:solidFill>
                  <a:srgbClr val="2A78D6"/>
                </a:solidFill>
                <a:latin typeface="Arial"/>
              </a:rPr>
              <a:t>▪  </a:t>
            </a:r>
            <a:r>
              <a:rPr sz="1150" b="0">
                <a:solidFill>
                  <a:srgbClr val="15181B"/>
                </a:solidFill>
                <a:latin typeface="Arial"/>
              </a:rPr>
              <a:t>Exact statevector simulation, checked against Qiskit on 6 rows</a:t>
            </a:r>
          </a:p>
        </p:txBody>
      </p:sp>
      <p:pic>
        <p:nvPicPr>
          <p:cNvPr id="15" name="Picture 14" descr="11_quantum_paired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9243" y="1280160"/>
            <a:ext cx="6280792" cy="2148840"/>
          </a:xfrm>
          <a:prstGeom prst="rect">
            <a:avLst/>
          </a:prstGeom>
        </p:spPr>
      </p:pic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303520" y="3611880"/>
          <a:ext cx="649224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377440"/>
                <a:gridCol w="2103120"/>
              </a:tblGrid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IG (bits)</a:t>
                      </a:r>
                    </a:p>
                  </a:txBody>
                  <a:tcPr marL="73152" marR="73152" marT="27432" marB="27432"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AUC</a:t>
                      </a:r>
                    </a:p>
                  </a:txBody>
                  <a:tcPr marL="73152" marR="73152" marT="27432" marB="27432">
                    <a:solidFill>
                      <a:srgbClr val="0D36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Classical (frozen)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0.1458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0.9061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Classical + quantum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0.1449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0.9060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5181B"/>
                          </a:solidFill>
                          <a:latin typeface="Arial"/>
                        </a:rPr>
                        <a:t>Difference (95% CI)</a:t>
                      </a:r>
                    </a:p>
                  </a:txBody>
                  <a:tcPr marL="73152" marR="73152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-0.0009 [-0.0015, -0.0004]</a:t>
                      </a:r>
                    </a:p>
                  </a:txBody>
                  <a:tcPr marL="73152" marR="73152" marT="27432" marB="27432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-0.0002 [-0.0004, +0.0001]</a:t>
                      </a:r>
                    </a:p>
                  </a:txBody>
                  <a:tcPr marL="73152" marR="73152" marT="27432" marB="27432">
                    <a:solidFill>
                      <a:srgbClr val="EEF4FC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303520" y="5074920"/>
            <a:ext cx="6492240" cy="1280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1200" b="1" i="0">
                <a:solidFill>
                  <a:srgbClr val="4D5459"/>
                </a:solidFill>
                <a:latin typeface="Arial"/>
              </a:rPr>
              <a:t>Verdict: </a:t>
            </a:r>
            <a:r>
              <a:rPr sz="1200" b="0" i="0">
                <a:solidFill>
                  <a:srgbClr val="4D5459"/>
                </a:solidFill>
                <a:latin typeface="Arial"/>
              </a:rPr>
              <a:t>the model uses the quantum features (trees split on them 16% of the time), but information gain gets slightly worse (CI entirely below 0) and AUC does not change (CI spans 0). No quantum lift. This matches the Deck's reference (ΔAUC +0.0011, CI [−0.0004, +0.0026]). Kernels and VQCs were not run at this scale: fidelity kernels concentrate and VQCs hit barren plateaus (McClean 2018; Thanasilp 2024).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1100" b="1" i="0">
                <a:solidFill>
                  <a:srgbClr val="7C8388"/>
                </a:solidFill>
                <a:latin typeface="Arial"/>
              </a:rPr>
              <a:t>STAKEHOLDERS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24712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2800" b="1" i="0">
                <a:solidFill>
                  <a:srgbClr val="15181B"/>
                </a:solidFill>
                <a:latin typeface="Arial"/>
              </a:rPr>
              <a:t>For decision-makers: a map, a 6-month view, and entry thresholds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900" b="0" i="0">
                <a:solidFill>
                  <a:srgbClr val="7C8388"/>
                </a:solidFill>
                <a:latin typeface="Arial"/>
              </a:rPr>
              <a:t>Earthquake-Q · Team Schrödinger's Cats · QuantathonV3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7C8388"/>
                </a:solidFill>
                <a:latin typeface="Arial"/>
              </a:rPr>
              <a:t>13</a:t>
            </a:r>
          </a:p>
        </p:txBody>
      </p:sp>
      <p:pic>
        <p:nvPicPr>
          <p:cNvPr id="7" name="Picture 6" descr="08_forecast_2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286" y="1234440"/>
            <a:ext cx="5828866" cy="2606040"/>
          </a:xfrm>
          <a:prstGeom prst="rect">
            <a:avLst/>
          </a:prstGeom>
        </p:spPr>
      </p:pic>
      <p:pic>
        <p:nvPicPr>
          <p:cNvPr id="8" name="Picture 7" descr="12_entry_threshol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265" y="3931920"/>
            <a:ext cx="5144908" cy="2423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66560" y="1325880"/>
            <a:ext cx="4983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2A78D6"/>
                </a:solidFill>
                <a:latin typeface="Arial"/>
              </a:rPr>
              <a:t>▪  </a:t>
            </a:r>
            <a:r>
              <a:rPr sz="1300" b="1">
                <a:solidFill>
                  <a:srgbClr val="15181B"/>
                </a:solidFill>
                <a:latin typeface="Arial"/>
              </a:rPr>
              <a:t>Clickable map: </a:t>
            </a:r>
            <a:r>
              <a:rPr sz="1300" b="0">
                <a:solidFill>
                  <a:srgbClr val="15181B"/>
                </a:solidFill>
                <a:latin typeface="Arial"/>
              </a:rPr>
              <a:t>click an epicenter → 30-day and 6-month risk for the nearest cell, with what that band meant on test data.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2A78D6"/>
                </a:solidFill>
                <a:latin typeface="Arial"/>
              </a:rPr>
              <a:t>▪  </a:t>
            </a:r>
            <a:r>
              <a:rPr sz="1300" b="1">
                <a:solidFill>
                  <a:srgbClr val="15181B"/>
                </a:solidFill>
                <a:latin typeface="Arial"/>
              </a:rPr>
              <a:t>6-month (repair crews): </a:t>
            </a:r>
            <a:r>
              <a:rPr sz="1300" b="0">
                <a:solidFill>
                  <a:srgbClr val="15181B"/>
                </a:solidFill>
                <a:latin typeface="Arial"/>
              </a:rPr>
              <a:t>1 − Π(1 − pₕ) over windows 1–6. Test: 24.5% forecast vs 22.4% observed, +0.379 bits; judge +0.302 bits. Errs cautious where quakes cluster.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2A78D6"/>
                </a:solidFill>
                <a:latin typeface="Arial"/>
              </a:rPr>
              <a:t>▪  </a:t>
            </a:r>
            <a:r>
              <a:rPr sz="1300" b="1">
                <a:solidFill>
                  <a:srgbClr val="15181B"/>
                </a:solidFill>
                <a:latin typeface="Arial"/>
              </a:rPr>
              <a:t>Entry threshold (rescue crews): </a:t>
            </a:r>
            <a:r>
              <a:rPr sz="1300" b="0">
                <a:solidFill>
                  <a:srgbClr val="15181B"/>
                </a:solidFill>
                <a:latin typeface="Arial"/>
              </a:rPr>
              <a:t>a 1% cut-off cleared 53% of cell-windows and missed 1.3% of events; 5% cleared 64% and missed 3.9%.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2A78D6"/>
                </a:solidFill>
                <a:latin typeface="Arial"/>
              </a:rPr>
              <a:t>▪  </a:t>
            </a:r>
            <a:r>
              <a:rPr sz="1300" b="1">
                <a:solidFill>
                  <a:srgbClr val="15181B"/>
                </a:solidFill>
                <a:latin typeface="Arial"/>
              </a:rPr>
              <a:t>Who decides: </a:t>
            </a:r>
            <a:r>
              <a:rPr sz="1300" b="0">
                <a:solidFill>
                  <a:srgbClr val="15181B"/>
                </a:solidFill>
                <a:latin typeface="Arial"/>
              </a:rPr>
              <a:t>the acceptable risk is for emergency managers; we supply calibrated numbers and their track record.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300">
                <a:solidFill>
                  <a:srgbClr val="2A78D6"/>
                </a:solidFill>
                <a:latin typeface="Arial"/>
              </a:rPr>
              <a:t>▪  </a:t>
            </a:r>
            <a:r>
              <a:rPr sz="1300" b="1">
                <a:solidFill>
                  <a:srgbClr val="15181B"/>
                </a:solidFill>
                <a:latin typeface="Arial"/>
              </a:rPr>
              <a:t>Hot spot: </a:t>
            </a:r>
            <a:r>
              <a:rPr sz="1300" b="0">
                <a:solidFill>
                  <a:srgbClr val="15181B"/>
                </a:solidFill>
                <a:latin typeface="Arial"/>
              </a:rPr>
              <a:t>New Madrid seismic zone (36°N, 89–90°W) is near-certain every month.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1100" b="1" i="0">
                <a:solidFill>
                  <a:srgbClr val="7C8388"/>
                </a:solidFill>
                <a:latin typeface="Arial"/>
              </a:rPr>
              <a:t>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24712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2800" b="1" i="0">
                <a:solidFill>
                  <a:srgbClr val="15181B"/>
                </a:solidFill>
                <a:latin typeface="Arial"/>
              </a:rPr>
              <a:t>Quality control: what we checked, and the bug we caught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900" b="0" i="0">
                <a:solidFill>
                  <a:srgbClr val="7C8388"/>
                </a:solidFill>
                <a:latin typeface="Arial"/>
              </a:rPr>
              <a:t>Earthquake-Q · Team Schrödinger's Cats · QuantathonV3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7C8388"/>
                </a:solidFill>
                <a:latin typeface="Arial"/>
              </a:rPr>
              <a:t>14</a:t>
            </a:r>
          </a:p>
        </p:txBody>
      </p:sp>
      <p:pic>
        <p:nvPicPr>
          <p:cNvPr id="7" name="Picture 6" descr="09_forecast_alignment_f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300" y="1234440"/>
            <a:ext cx="6580919" cy="2194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657600"/>
            <a:ext cx="6675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>
                <a:solidFill>
                  <a:srgbClr val="2A78D6"/>
                </a:solidFill>
                <a:latin typeface="Arial"/>
              </a:rPr>
              <a:t>▪  </a:t>
            </a:r>
            <a:r>
              <a:rPr sz="1250" b="0">
                <a:solidFill>
                  <a:srgbClr val="15181B"/>
                </a:solidFill>
                <a:latin typeface="Arial"/>
              </a:rPr>
              <a:t>Full rerun from raw catalogs: training data bit-identical; every recorded metric reproduced exactly.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>
                <a:solidFill>
                  <a:srgbClr val="2A78D6"/>
                </a:solidFill>
                <a:latin typeface="Arial"/>
              </a:rPr>
              <a:t>▪  </a:t>
            </a:r>
            <a:r>
              <a:rPr sz="1250" b="0">
                <a:solidFill>
                  <a:srgbClr val="15181B"/>
                </a:solidFill>
                <a:latin typeface="Arial"/>
              </a:rPr>
              <a:t>Our first forecast file paired window-ordered probabilities with cell-ordered rows: 22,163 of 23,265 wrong.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>
                <a:solidFill>
                  <a:srgbClr val="2A78D6"/>
                </a:solidFill>
                <a:latin typeface="Arial"/>
              </a:rPr>
              <a:t>▪  </a:t>
            </a:r>
            <a:r>
              <a:rPr sz="1250" b="0">
                <a:solidFill>
                  <a:srgbClr val="15181B"/>
                </a:solidFill>
                <a:latin typeface="Arial"/>
              </a:rPr>
              <a:t>On judge that file would score -0.37 bits; the corrected file scores +0.160.</a:t>
            </a:r>
          </a:p>
          <a:p>
            <a:pPr>
              <a:lnSpc>
                <a:spcPct val="108000"/>
              </a:lnSpc>
              <a:spcAft>
                <a:spcPts val="400"/>
              </a:spcAft>
            </a:pPr>
            <a:r>
              <a:rPr sz="1250">
                <a:solidFill>
                  <a:srgbClr val="2A78D6"/>
                </a:solidFill>
                <a:latin typeface="Arial"/>
              </a:rPr>
              <a:t>▪  </a:t>
            </a:r>
            <a:r>
              <a:rPr sz="1250" b="0">
                <a:solidFill>
                  <a:srgbClr val="15181B"/>
                </a:solidFill>
                <a:latin typeface="Arial"/>
              </a:rPr>
              <a:t>200 random rows recomputed with independent code: exact match.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06640" y="1325880"/>
          <a:ext cx="434340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1463040"/>
              </a:tblGrid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Check</a:t>
                      </a:r>
                    </a:p>
                  </a:txBody>
                  <a:tcPr marL="73152" marR="73152" marT="27432" marB="27432"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73152" marR="73152" marT="27432" marB="27432">
                    <a:solidFill>
                      <a:srgbClr val="0D366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Training data regenerates identically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Headline metrics reproduce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ECE &lt; 0.02 (all groups)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No external driver helps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Headline scripts never read judge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Forecast order and values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Pass (fixed)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Judge ≥ test (no leakage)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Pass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Verification suite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5181B"/>
                          </a:solidFill>
                          <a:latin typeface="Arial"/>
                        </a:rPr>
                        <a:t>18/19 (1 = old file)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1100" b="1" i="0">
                <a:solidFill>
                  <a:srgbClr val="7C8388"/>
                </a:solidFill>
                <a:latin typeface="Arial"/>
              </a:rPr>
              <a:t>HONESTY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24712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2800" b="1" i="0">
                <a:solidFill>
                  <a:srgbClr val="15181B"/>
                </a:solidFill>
                <a:latin typeface="Arial"/>
              </a:rPr>
              <a:t>Limitations we want you to know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900" b="0" i="0">
                <a:solidFill>
                  <a:srgbClr val="7C8388"/>
                </a:solidFill>
                <a:latin typeface="Arial"/>
              </a:rPr>
              <a:t>Earthquake-Q · Team Schrödinger's Cats · QuantathonV3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7C8388"/>
                </a:solidFill>
                <a:latin typeface="Arial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00">
                <a:solidFill>
                  <a:srgbClr val="2A78D6"/>
                </a:solidFill>
                <a:latin typeface="Arial"/>
              </a:rPr>
              <a:t>▪  </a:t>
            </a:r>
            <a:r>
              <a:rPr sz="1500" b="1">
                <a:solidFill>
                  <a:srgbClr val="15181B"/>
                </a:solidFill>
                <a:latin typeface="Arial"/>
              </a:rPr>
              <a:t>Model selection used the test period. </a:t>
            </a:r>
            <a:r>
              <a:rPr sz="1500" b="0">
                <a:solidFill>
                  <a:srgbClr val="15181B"/>
                </a:solidFill>
                <a:latin typeface="Arial"/>
              </a:rPr>
              <a:t>The judge score is the only untouched number; we used it once.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00">
                <a:solidFill>
                  <a:srgbClr val="2A78D6"/>
                </a:solidFill>
                <a:latin typeface="Arial"/>
              </a:rPr>
              <a:t>▪  </a:t>
            </a:r>
            <a:r>
              <a:rPr sz="1500" b="1">
                <a:solidFill>
                  <a:srgbClr val="15181B"/>
                </a:solidFill>
                <a:latin typeface="Arial"/>
              </a:rPr>
              <a:t>ETAS is an approximation. </a:t>
            </a:r>
            <a:r>
              <a:rPr sz="1500" b="0">
                <a:solidFill>
                  <a:srgbClr val="15181B"/>
                </a:solidFill>
                <a:latin typeface="Arial"/>
              </a:rPr>
              <a:t>Our fitted triggering strength K collapsed to ~0, so it behaves like a background-rate model; a proper declustered ETAS refit is the top next step.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00">
                <a:solidFill>
                  <a:srgbClr val="2A78D6"/>
                </a:solidFill>
                <a:latin typeface="Arial"/>
              </a:rPr>
              <a:t>▪  </a:t>
            </a:r>
            <a:r>
              <a:rPr sz="1500" b="1">
                <a:solidFill>
                  <a:srgbClr val="15181B"/>
                </a:solidFill>
                <a:latin typeface="Arial"/>
              </a:rPr>
              <a:t>Label windows cross split boundaries. </a:t>
            </a:r>
            <a:r>
              <a:rPr sz="1500" b="0">
                <a:solidFill>
                  <a:srgbClr val="15181B"/>
                </a:solidFill>
                <a:latin typeface="Arial"/>
              </a:rPr>
              <a:t>Removing those rows costs 0.0041 bits on test, larger than our gap to ETAS.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00">
                <a:solidFill>
                  <a:srgbClr val="2A78D6"/>
                </a:solidFill>
                <a:latin typeface="Arial"/>
              </a:rPr>
              <a:t>▪  </a:t>
            </a:r>
            <a:r>
              <a:rPr sz="1500" b="1">
                <a:solidFill>
                  <a:srgbClr val="15181B"/>
                </a:solidFill>
                <a:latin typeface="Arial"/>
              </a:rPr>
              <a:t>The 1,551-cell mask and window dates are our construction </a:t>
            </a:r>
            <a:r>
              <a:rPr sz="1500" b="0">
                <a:solidFill>
                  <a:srgbClr val="15181B"/>
                </a:solidFill>
                <a:latin typeface="Arial"/>
              </a:rPr>
              <a:t>from the Deck's specification (judge data ends March 2026).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00">
                <a:solidFill>
                  <a:srgbClr val="2A78D6"/>
                </a:solidFill>
                <a:latin typeface="Arial"/>
              </a:rPr>
              <a:t>▪  </a:t>
            </a:r>
            <a:r>
              <a:rPr sz="1500" b="1">
                <a:solidFill>
                  <a:srgbClr val="15181B"/>
                </a:solidFill>
                <a:latin typeface="Arial"/>
              </a:rPr>
              <a:t>6-month risk assumes independent windows. </a:t>
            </a:r>
            <a:r>
              <a:rPr sz="1500" b="0">
                <a:solidFill>
                  <a:srgbClr val="15181B"/>
                </a:solidFill>
                <a:latin typeface="Arial"/>
              </a:rPr>
              <a:t>Conservative at moderate/high risk; slightly low below 1% (0.06% vs 0.45%).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00">
                <a:solidFill>
                  <a:srgbClr val="2A78D6"/>
                </a:solidFill>
                <a:latin typeface="Arial"/>
              </a:rPr>
              <a:t>▪  </a:t>
            </a:r>
            <a:r>
              <a:rPr sz="1500" b="1">
                <a:solidFill>
                  <a:srgbClr val="15181B"/>
                </a:solidFill>
                <a:latin typeface="Arial"/>
              </a:rPr>
              <a:t>Quantum test uses simulated 4-qubit circuits. </a:t>
            </a:r>
            <a:r>
              <a:rPr sz="1500" b="0">
                <a:solidFill>
                  <a:srgbClr val="15181B"/>
                </a:solidFill>
                <a:latin typeface="Arial"/>
              </a:rPr>
              <a:t>A null result for this encoding, not a verdict on all quantum methods.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500">
                <a:solidFill>
                  <a:srgbClr val="2A78D6"/>
                </a:solidFill>
                <a:latin typeface="Arial"/>
              </a:rPr>
              <a:t>▪  </a:t>
            </a:r>
            <a:r>
              <a:rPr sz="1500" b="1">
                <a:solidFill>
                  <a:srgbClr val="15181B"/>
                </a:solidFill>
                <a:latin typeface="Arial"/>
              </a:rPr>
              <a:t>A probability map is not a safety guarantee. </a:t>
            </a:r>
            <a:r>
              <a:rPr sz="1500" b="0">
                <a:solidFill>
                  <a:srgbClr val="15181B"/>
                </a:solidFill>
                <a:latin typeface="Arial"/>
              </a:rPr>
              <a:t>Entry thresholds need agreement with emergency managers.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1100" b="1" i="0">
                <a:solidFill>
                  <a:srgbClr val="7C8388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24712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2800" b="1" i="0">
                <a:solidFill>
                  <a:srgbClr val="15181B"/>
                </a:solidFill>
                <a:latin typeface="Arial"/>
              </a:rPr>
              <a:t>Decisions we would like from mentors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900" b="0" i="0">
                <a:solidFill>
                  <a:srgbClr val="7C8388"/>
                </a:solidFill>
                <a:latin typeface="Arial"/>
              </a:rPr>
              <a:t>Earthquake-Q · Team Schrödinger's Cats · QuantathonV3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7C8388"/>
                </a:solidFill>
                <a:latin typeface="Arial"/>
              </a:rPr>
              <a:t>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1115568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566160"/>
                <a:gridCol w="4663440"/>
              </a:tblGrid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Decision</a:t>
                      </a:r>
                    </a:p>
                  </a:txBody>
                  <a:tcPr marL="73152" marR="73152" marT="27432" marB="27432"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Our recommendation</a:t>
                      </a:r>
                    </a:p>
                  </a:txBody>
                  <a:tcPr marL="73152" marR="73152" marT="27432" marB="27432"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Why</a:t>
                      </a:r>
                    </a:p>
                  </a:txBody>
                  <a:tcPr marL="73152" marR="73152" marT="27432" marB="27432">
                    <a:solidFill>
                      <a:srgbClr val="0D366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181B"/>
                          </a:solidFill>
                          <a:latin typeface="Arial"/>
                        </a:rPr>
                        <a:t>Submit the frozen model?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181B"/>
                          </a:solidFill>
                          <a:latin typeface="Arial"/>
                        </a:rPr>
                        <a:t>Yes, corrected file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5181B"/>
                          </a:solidFill>
                          <a:latin typeface="Arial"/>
                        </a:rPr>
                        <a:t>+0.160 judge bits, ECE 0.0066, no leakage sign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181B"/>
                          </a:solidFill>
                          <a:latin typeface="Arial"/>
                        </a:rPr>
                        <a:t>Add quantum features?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181B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181B"/>
                          </a:solidFill>
                          <a:latin typeface="Arial"/>
                        </a:rPr>
                        <a:t>ΔIG -0.0009 bits, CI below 0; ΔAUC CI spans 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181B"/>
                          </a:solidFill>
                          <a:latin typeface="Arial"/>
                        </a:rPr>
                        <a:t>Add external drivers?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181B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5181B"/>
                          </a:solidFill>
                          <a:latin typeface="Arial"/>
                        </a:rPr>
                        <a:t>0 or negative in paired tests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181B"/>
                          </a:solidFill>
                          <a:latin typeface="Arial"/>
                        </a:rPr>
                        <a:t>Invest next in…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181B"/>
                          </a:solidFill>
                          <a:latin typeface="Arial"/>
                        </a:rPr>
                        <a:t>Declustered ETAS refit, ETAS as model input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181B"/>
                          </a:solidFill>
                          <a:latin typeface="Arial"/>
                        </a:rPr>
                        <a:t>Deck's highest-value task; physics as starting point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181B"/>
                          </a:solidFill>
                          <a:latin typeface="Arial"/>
                        </a:rPr>
                        <a:t>Entry threshold for rescue crews?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181B"/>
                          </a:solidFill>
                          <a:latin typeface="Arial"/>
                        </a:rPr>
                        <a:t>Managers choose; 1–5% range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5181B"/>
                          </a:solidFill>
                          <a:latin typeface="Arial"/>
                        </a:rPr>
                        <a:t>1% clears 53%, misses 1.3%; 5% clears 64%, misses 3.9%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181B"/>
                          </a:solidFill>
                          <a:latin typeface="Arial"/>
                        </a:rPr>
                        <a:t>Publish the map?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181B"/>
                          </a:solidFill>
                          <a:latin typeface="Arial"/>
                        </a:rPr>
                        <a:t>Yes, with caveats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181B"/>
                          </a:solidFill>
                          <a:latin typeface="Arial"/>
                        </a:rPr>
                        <a:t>Calibrated, shows its own track record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1100" b="1" i="0">
                <a:solidFill>
                  <a:srgbClr val="7C8388"/>
                </a:solidFill>
                <a:latin typeface="Arial"/>
              </a:rPr>
              <a:t>LITERATURE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24712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2800" b="1" i="0">
                <a:solidFill>
                  <a:srgbClr val="15181B"/>
                </a:solidFill>
                <a:latin typeface="Arial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</a:pPr>
            <a:r>
              <a:rPr sz="900" b="0" i="0">
                <a:solidFill>
                  <a:srgbClr val="7C8388"/>
                </a:solidFill>
                <a:latin typeface="Arial"/>
              </a:rPr>
              <a:t>Earthquake-Q · Team Schrödinger's Cats · QuantathonV3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7C8388"/>
                </a:solidFill>
                <a:latin typeface="Arial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5486400" cy="5120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</a:pPr>
            <a:r>
              <a:rPr sz="950" b="0" i="0">
                <a:solidFill>
                  <a:srgbClr val="4D5459"/>
                </a:solidFill>
                <a:latin typeface="Arial"/>
              </a:rPr>
              <a:t>Aki, K. (1965). Maximum likelihood estimate of b in the formula log N = a − bM. Bull. Earthq. Res. Inst. 43, 237–239.</a:t>
            </a:r>
          </a:p>
          <a:p>
            <a:pPr>
              <a:lnSpc>
                <a:spcPct val="105000"/>
              </a:lnSpc>
            </a:pPr>
            <a:r>
              <a:rPr sz="950" b="0" i="0">
                <a:solidFill>
                  <a:srgbClr val="4D5459"/>
                </a:solidFill>
                <a:latin typeface="Arial"/>
              </a:rPr>
              <a:t>Breiman, L. (2001). Random forests. Machine Learning 45, 5–32.</a:t>
            </a:r>
          </a:p>
          <a:p>
            <a:pPr>
              <a:lnSpc>
                <a:spcPct val="105000"/>
              </a:lnSpc>
            </a:pPr>
            <a:r>
              <a:rPr sz="950" b="0" i="0">
                <a:solidFill>
                  <a:srgbClr val="4D5459"/>
                </a:solidFill>
                <a:latin typeface="Arial"/>
              </a:rPr>
              <a:t>Friedman, J. H. (2001). Greedy function approximation: a gradient boosting machine. Ann. Statist. 29, 1189–1232.</a:t>
            </a:r>
          </a:p>
          <a:p>
            <a:pPr>
              <a:lnSpc>
                <a:spcPct val="105000"/>
              </a:lnSpc>
            </a:pPr>
            <a:r>
              <a:rPr sz="950" b="0" i="0">
                <a:solidFill>
                  <a:srgbClr val="4D5459"/>
                </a:solidFill>
                <a:latin typeface="Arial"/>
              </a:rPr>
              <a:t>Gardner, J. K. &amp; Knopoff, L. (1974). Is the sequence of earthquakes in Southern California, with aftershocks removed, Poissonian? BSSA 64, 1363–1367.</a:t>
            </a:r>
          </a:p>
          <a:p>
            <a:pPr>
              <a:lnSpc>
                <a:spcPct val="105000"/>
              </a:lnSpc>
            </a:pPr>
            <a:r>
              <a:rPr sz="950" b="0" i="0">
                <a:solidFill>
                  <a:srgbClr val="4D5459"/>
                </a:solidFill>
                <a:latin typeface="Arial"/>
              </a:rPr>
              <a:t>Gneiting, T. &amp; Raftery, A. E. (2007). Strictly proper scoring rules, prediction, and estimation. JASA 102, 359–378.</a:t>
            </a:r>
          </a:p>
          <a:p>
            <a:pPr>
              <a:lnSpc>
                <a:spcPct val="105000"/>
              </a:lnSpc>
            </a:pPr>
            <a:r>
              <a:rPr sz="950" b="0" i="0">
                <a:solidFill>
                  <a:srgbClr val="4D5459"/>
                </a:solidFill>
                <a:latin typeface="Arial"/>
              </a:rPr>
              <a:t>Grinsztajn, L., Oyallon, E. &amp; Varoquaux, G. (2022). Why do tree-based models still outperform deep learning on tabular data? NeurIPS.</a:t>
            </a:r>
          </a:p>
          <a:p>
            <a:pPr>
              <a:lnSpc>
                <a:spcPct val="105000"/>
              </a:lnSpc>
            </a:pPr>
            <a:r>
              <a:rPr sz="950" b="0" i="0">
                <a:solidFill>
                  <a:srgbClr val="4D5459"/>
                </a:solidFill>
                <a:latin typeface="Arial"/>
              </a:rPr>
              <a:t>Guo, C., Pleiss, G., Sun, Y. &amp; Weinberger, K. Q. (2017). On calibration of modern neural networks. ICML.</a:t>
            </a:r>
          </a:p>
          <a:p>
            <a:pPr>
              <a:lnSpc>
                <a:spcPct val="105000"/>
              </a:lnSpc>
            </a:pPr>
            <a:r>
              <a:rPr sz="950" b="0" i="0">
                <a:solidFill>
                  <a:srgbClr val="4D5459"/>
                </a:solidFill>
                <a:latin typeface="Arial"/>
              </a:rPr>
              <a:t>Gutenberg, B. &amp; Richter, C. F. (1944). Frequency of earthquakes in California. BSSA 34, 185–188.</a:t>
            </a:r>
          </a:p>
          <a:p>
            <a:pPr>
              <a:lnSpc>
                <a:spcPct val="105000"/>
              </a:lnSpc>
            </a:pPr>
            <a:r>
              <a:rPr sz="950" b="0" i="0">
                <a:solidFill>
                  <a:srgbClr val="4D5459"/>
                </a:solidFill>
                <a:latin typeface="Arial"/>
              </a:rPr>
              <a:t>Havlíček, V. et al. (2019). Supervised learning with quantum-enhanced feature spaces. Nature 567, 209–212.</a:t>
            </a:r>
          </a:p>
          <a:p>
            <a:pPr>
              <a:lnSpc>
                <a:spcPct val="105000"/>
              </a:lnSpc>
            </a:pPr>
            <a:r>
              <a:rPr sz="950" b="0" i="0">
                <a:solidFill>
                  <a:srgbClr val="4D5459"/>
                </a:solidFill>
                <a:latin typeface="Arial"/>
              </a:rPr>
              <a:t>Ke, G. et al. (2017). LightGBM: a highly efficient gradient boosting decision tree. NeurIPS.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280160"/>
            <a:ext cx="5486400" cy="5120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5000"/>
              </a:lnSpc>
            </a:pPr>
            <a:r>
              <a:rPr sz="950" b="0" i="0">
                <a:solidFill>
                  <a:srgbClr val="4D5459"/>
                </a:solidFill>
                <a:latin typeface="Arial"/>
              </a:rPr>
              <a:t>Künsch, H. R. (1989). The jackknife and the bootstrap for general stationary observations. Ann. Statist. 17, 1217–1241.</a:t>
            </a:r>
          </a:p>
          <a:p>
            <a:pPr>
              <a:lnSpc>
                <a:spcPct val="105000"/>
              </a:lnSpc>
            </a:pPr>
            <a:r>
              <a:rPr sz="950" b="0" i="0">
                <a:solidFill>
                  <a:srgbClr val="4D5459"/>
                </a:solidFill>
                <a:latin typeface="Arial"/>
              </a:rPr>
              <a:t>McClean, J. R. et al. (2018). Barren plateaus in quantum neural network training landscapes. Nat. Commun. 9, 4812.</a:t>
            </a:r>
          </a:p>
          <a:p>
            <a:pPr>
              <a:lnSpc>
                <a:spcPct val="105000"/>
              </a:lnSpc>
            </a:pPr>
            <a:r>
              <a:rPr sz="950" b="0" i="0">
                <a:solidFill>
                  <a:srgbClr val="4D5459"/>
                </a:solidFill>
                <a:latin typeface="Arial"/>
              </a:rPr>
              <a:t>Mignan, A. &amp; Woessner, J. (2012). Estimating the magnitude of completeness for earthquake catalogs. CORSSA.</a:t>
            </a:r>
          </a:p>
          <a:p>
            <a:pPr>
              <a:lnSpc>
                <a:spcPct val="105000"/>
              </a:lnSpc>
            </a:pPr>
            <a:r>
              <a:rPr sz="950" b="0" i="0">
                <a:solidFill>
                  <a:srgbClr val="4D5459"/>
                </a:solidFill>
                <a:latin typeface="Arial"/>
              </a:rPr>
              <a:t>Ogata, Y. (1988). Statistical models for earthquake occurrences and residual analysis for point processes. JASA 83, 9–27.</a:t>
            </a:r>
          </a:p>
          <a:p>
            <a:pPr>
              <a:lnSpc>
                <a:spcPct val="105000"/>
              </a:lnSpc>
            </a:pPr>
            <a:r>
              <a:rPr sz="950" b="0" i="0">
                <a:solidFill>
                  <a:srgbClr val="4D5459"/>
                </a:solidFill>
                <a:latin typeface="Arial"/>
              </a:rPr>
              <a:t>Schuld, M. &amp; Killoran, N. (2019). Quantum machine learning in feature Hilbert spaces. Phys. Rev. Lett. 122, 040504.</a:t>
            </a:r>
          </a:p>
          <a:p>
            <a:pPr>
              <a:lnSpc>
                <a:spcPct val="105000"/>
              </a:lnSpc>
            </a:pPr>
            <a:r>
              <a:rPr sz="950" b="0" i="0">
                <a:solidFill>
                  <a:srgbClr val="4D5459"/>
                </a:solidFill>
                <a:latin typeface="Arial"/>
              </a:rPr>
              <a:t>Thanasilp, S., Wang, S., Cerezo, M. &amp; Holmes, Z. (2024). Exponential concentration in quantum kernel methods. Nat. Commun. 15, 5200.</a:t>
            </a:r>
          </a:p>
          <a:p>
            <a:pPr>
              <a:lnSpc>
                <a:spcPct val="105000"/>
              </a:lnSpc>
            </a:pPr>
            <a:r>
              <a:rPr sz="950" b="0" i="0">
                <a:solidFill>
                  <a:srgbClr val="4D5459"/>
                </a:solidFill>
                <a:latin typeface="Arial"/>
              </a:rPr>
              <a:t>Utsu, T. (1961). A statistical study on the occurrence of aftershocks. Geophys. Mag. 30, 521–605.</a:t>
            </a:r>
          </a:p>
          <a:p>
            <a:pPr>
              <a:lnSpc>
                <a:spcPct val="105000"/>
              </a:lnSpc>
            </a:pPr>
            <a:r>
              <a:rPr sz="950" b="0" i="0">
                <a:solidFill>
                  <a:srgbClr val="4D5459"/>
                </a:solidFill>
                <a:latin typeface="Arial"/>
              </a:rPr>
              <a:t>Wiemer, S. &amp; Wyss, M. (2000). Minimum magnitude of completeness in earthquake catalogs. BSSA 90, 859–869.</a:t>
            </a:r>
          </a:p>
          <a:p>
            <a:pPr>
              <a:lnSpc>
                <a:spcPct val="105000"/>
              </a:lnSpc>
            </a:pPr>
            <a:r>
              <a:rPr sz="950" b="0" i="0">
                <a:solidFill>
                  <a:srgbClr val="4D5459"/>
                </a:solidFill>
                <a:latin typeface="Arial"/>
              </a:rPr>
              <a:t>Zadrozny, B. &amp; Elkan, C. (2002). Transforming classifier scores into accurate multiclass probability estimates. KDD.</a:t>
            </a:r>
          </a:p>
          <a:p>
            <a:pPr>
              <a:lnSpc>
                <a:spcPct val="105000"/>
              </a:lnSpc>
            </a:pPr>
            <a:r>
              <a:rPr sz="950" b="0" i="0">
                <a:solidFill>
                  <a:srgbClr val="4D5459"/>
                </a:solidFill>
                <a:latin typeface="Arial"/>
              </a:rPr>
              <a:t>Challenge materials: Earthquake-Q Intro Briefing, Study Deck (100 slides), Classical Starter notebook, README (QuantathonV3, SRNL &amp; Clemson, 2026).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